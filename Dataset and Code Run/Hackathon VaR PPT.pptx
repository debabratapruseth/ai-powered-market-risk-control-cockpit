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3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/>
    <p:restoredTop sz="94618"/>
  </p:normalViewPr>
  <p:slideViewPr>
    <p:cSldViewPr snapToGrid="0">
      <p:cViewPr varScale="1">
        <p:scale>
          <a:sx n="162" d="100"/>
          <a:sy n="162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DACF-DE75-1518-3848-C29EE6CD1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4DA16-E170-FF45-2581-F573C5FA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5A4C-D4D1-44CE-4422-F7C7902E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95A8-EC95-BEBB-4E6D-7B30A9E8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F745F-0BAD-6D2C-5BE5-1BC46DDC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77D4-965B-DBD0-EB74-CF8B12BF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CE8C-A374-D177-65B6-20383B93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94AA-B1E7-562A-9F2B-E64E9CC9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A0C5-AECC-77AB-40A9-F945DDD1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922D-606D-62F3-FABB-46CF8F5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90BD-7E4D-1191-50C6-1F2F320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86EF-CABB-00C0-68EF-F3708D7A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5A95-D6D8-DCBE-2941-C55E6463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0929-7B92-59C0-5392-BAC8EE25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3863-7928-FF4C-75D2-06DBC2F5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3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91D-4E4B-2969-7F8F-C1009EFA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0938-0168-1D86-F833-38A5EF875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6545-3FCC-1D09-6590-1E4F65B98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C7353-366C-51AB-CDB2-E45356B8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EC0C-7756-FC1E-F91E-3FC8116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A57DC-95D8-7B9A-16E8-2B8E1BB7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EB98-5F03-3AF6-F9D4-F0BB722A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37276-85D5-2CDF-80F7-EA745E14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13505-0F4A-4E48-1963-87114E2BF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EBB81-62CE-C90F-64AB-1DEF4784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73EB5-46B4-13D1-F632-AE6D214BA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DC9EB-B7AD-C84C-4897-B5CEA8D3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E03B-ED70-AF3E-1C4B-7E4B34D4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F1723-6209-EC7F-2CB7-A6B7E49A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9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D4AE-11D7-9956-22BF-36A0BCBC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E66FA-B0A8-BCBE-3171-65C0CBEF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F8631-52DE-FE8E-DDF2-04ABF307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D0C1-9919-FB69-2AB1-0C195B2E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7FF32-6D51-0513-BC93-8970120A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553-B3D8-A50D-6790-1705E465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DCCA-7BD1-1C80-A834-D36FED0F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F49-3CB3-36ED-A1F3-A06F4239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8CB6-5AEC-8861-0E19-F83F5D0A8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9D37-BB6C-EEF2-538A-75975BFB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46D4-84BC-7B01-5DBF-41807E4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F1D4-62F2-6A17-1D54-0F8D42D8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4E14-0952-D799-F74D-11BBED6E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31FE-BBA3-2CAA-212C-EEB1592A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92DD4-766B-19EA-B645-87EB7A63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1CEA-56A1-3A70-4297-DFB37552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A7A09-F0EB-E7F0-7E56-9349663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1C4A4-7BB6-2026-1ED1-9949A7DB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E69BE-DDBE-B875-02D5-76C52BAE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4B83-31BF-9C22-F19C-A615A3CE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FFE2-B32B-4D59-57B4-F60E4F2EB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697C8-569E-631B-F95B-79B44628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F7F7-8343-9209-F6D9-29016555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F6541-9790-B7D9-3A6F-AE7977E5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2DC1E-D179-06B4-5B23-049829E9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8B221-F50C-A488-3C6F-FA09C838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553D-6D0D-C23B-DE41-A9047972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C2C9-EEAD-51C4-C826-32179EC6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5F6A-2EB9-DC27-5CF4-4A027C65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E0FD2-B5CC-A1B9-DD28-2DEC1149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5361D-83EF-19F0-048C-E46F6D38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BD36-B294-B674-3457-B12A885F0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07F04-D78D-FE4B-9C1A-A421FF33C3A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15C8-E0DC-9DAB-4216-8097E43C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E77F9-C94E-225B-0445-F6A463E5A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C7DF-9EAE-5CB7-3DDF-D7D995893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7B229-A555-1DC4-8363-95254CDA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93BC3-FCE0-70BB-1851-E8FC491E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"/>
            <a:ext cx="12195244" cy="6856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453B3C-5D46-F269-7085-A4405D4315C3}"/>
              </a:ext>
            </a:extLst>
          </p:cNvPr>
          <p:cNvSpPr/>
          <p:nvPr/>
        </p:nvSpPr>
        <p:spPr>
          <a:xfrm>
            <a:off x="242047" y="215153"/>
            <a:ext cx="6401124" cy="2825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/>
              <a:t>SCB</a:t>
            </a:r>
          </a:p>
          <a:p>
            <a:pPr algn="ctr"/>
            <a:r>
              <a:rPr lang="en-SG" sz="4000" b="1" dirty="0"/>
              <a:t>AI-Powered Value at Risk Market Data Quality </a:t>
            </a:r>
          </a:p>
          <a:p>
            <a:pPr algn="ctr"/>
            <a:r>
              <a:rPr lang="en-SG" sz="4000" b="1" dirty="0"/>
              <a:t>Control Cockpit</a:t>
            </a:r>
          </a:p>
        </p:txBody>
      </p:sp>
    </p:spTree>
    <p:extLst>
      <p:ext uri="{BB962C8B-B14F-4D97-AF65-F5344CB8AC3E}">
        <p14:creationId xmlns:p14="http://schemas.microsoft.com/office/powerpoint/2010/main" val="400492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1503FF-BF4D-C8AD-46B2-58E4E0F5100E}"/>
              </a:ext>
            </a:extLst>
          </p:cNvPr>
          <p:cNvSpPr/>
          <p:nvPr/>
        </p:nvSpPr>
        <p:spPr>
          <a:xfrm>
            <a:off x="319489" y="1097708"/>
            <a:ext cx="11457542" cy="556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DA84-C90C-1989-2536-F7FABD9C8AC8}"/>
              </a:ext>
            </a:extLst>
          </p:cNvPr>
          <p:cNvSpPr txBox="1"/>
          <p:nvPr/>
        </p:nvSpPr>
        <p:spPr>
          <a:xfrm>
            <a:off x="176270" y="194228"/>
            <a:ext cx="11600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dirty="0"/>
              <a:t>Today, we’re demonstrating an </a:t>
            </a:r>
            <a:r>
              <a:rPr lang="en-SG" sz="1600" b="1" dirty="0"/>
              <a:t>AI-powered Market Data Quality Control Cockpit</a:t>
            </a:r>
            <a:r>
              <a:rPr lang="en-SG" sz="1600" dirty="0"/>
              <a:t> for Market Risk. Our pilot focuses on </a:t>
            </a:r>
            <a:r>
              <a:rPr lang="en-SG" sz="1600" b="1" dirty="0">
                <a:highlight>
                  <a:srgbClr val="FFFF00"/>
                </a:highlight>
              </a:rPr>
              <a:t>FX market data</a:t>
            </a:r>
            <a:r>
              <a:rPr lang="en-SG" sz="1600" dirty="0"/>
              <a:t>, helping risk analysts automatically detect, prioritise, and investigate market data quality issues before they impact valuations, VaR calculations, and trading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F45E3-4FC5-A0D5-5EBD-58D8FB296A24}"/>
              </a:ext>
            </a:extLst>
          </p:cNvPr>
          <p:cNvSpPr txBox="1"/>
          <p:nvPr/>
        </p:nvSpPr>
        <p:spPr>
          <a:xfrm>
            <a:off x="3553858" y="1169907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MARKET RISK CONTROL COCKPIT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2D310-DFA2-7A37-6F55-2FA2742186D2}"/>
              </a:ext>
            </a:extLst>
          </p:cNvPr>
          <p:cNvSpPr txBox="1"/>
          <p:nvPr/>
        </p:nvSpPr>
        <p:spPr>
          <a:xfrm>
            <a:off x="3553858" y="1545872"/>
            <a:ext cx="415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Detect • Prioritise • Explain • Investigate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BA4B1-DD32-81AC-2FC3-B085AEE64199}"/>
              </a:ext>
            </a:extLst>
          </p:cNvPr>
          <p:cNvSpPr/>
          <p:nvPr/>
        </p:nvSpPr>
        <p:spPr>
          <a:xfrm>
            <a:off x="989683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1. MARKET DATA SOURCES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B7BB2-A03A-ED48-7A00-8DCD6B560ABD}"/>
              </a:ext>
            </a:extLst>
          </p:cNvPr>
          <p:cNvSpPr txBox="1"/>
          <p:nvPr/>
        </p:nvSpPr>
        <p:spPr>
          <a:xfrm>
            <a:off x="989683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Reuters  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Bloomberg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Internal Market Data Feed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Exchange Prices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Reference Data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Historical Market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8F420-AD11-70FC-2DCD-28249B3C516E}"/>
              </a:ext>
            </a:extLst>
          </p:cNvPr>
          <p:cNvSpPr/>
          <p:nvPr/>
        </p:nvSpPr>
        <p:spPr>
          <a:xfrm>
            <a:off x="353396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2. DATA QUALITY VALIDATION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1630C-A71C-F196-4E95-8F4CEE70D3A2}"/>
              </a:ext>
            </a:extLst>
          </p:cNvPr>
          <p:cNvSpPr txBox="1"/>
          <p:nvPr/>
        </p:nvSpPr>
        <p:spPr>
          <a:xfrm>
            <a:off x="353396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Stale Prices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Feed Latency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Vendor Price Mismatch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Large Price Movement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Missing or Invalid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E5460-25D6-D94F-AA63-1B2EDB68A5A5}"/>
              </a:ext>
            </a:extLst>
          </p:cNvPr>
          <p:cNvSpPr/>
          <p:nvPr/>
        </p:nvSpPr>
        <p:spPr>
          <a:xfrm>
            <a:off x="6344951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3. AI ANOMALY DETECTION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14021-6014-2A88-C911-40B6CEE984A2}"/>
              </a:ext>
            </a:extLst>
          </p:cNvPr>
          <p:cNvSpPr txBox="1"/>
          <p:nvPr/>
        </p:nvSpPr>
        <p:spPr>
          <a:xfrm>
            <a:off x="6344951" y="2663744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Detect unusual market behaviour</a:t>
            </a:r>
          </a:p>
          <a:p>
            <a:r>
              <a:rPr lang="en-SG" dirty="0"/>
              <a:t>Learn historical patterns</a:t>
            </a:r>
          </a:p>
          <a:p>
            <a:r>
              <a:rPr lang="en-SG" dirty="0"/>
              <a:t>Identify anomalies missed by static rules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0AE5E-DCB3-9B94-9804-CB506E578B46}"/>
              </a:ext>
            </a:extLst>
          </p:cNvPr>
          <p:cNvSpPr/>
          <p:nvPr/>
        </p:nvSpPr>
        <p:spPr>
          <a:xfrm>
            <a:off x="877248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4. MARKET CONTEXT ENRICHMENT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07475-0208-1BA8-5F55-DCD66CB40A80}"/>
              </a:ext>
            </a:extLst>
          </p:cNvPr>
          <p:cNvSpPr txBox="1"/>
          <p:nvPr/>
        </p:nvSpPr>
        <p:spPr>
          <a:xfrm>
            <a:off x="877248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Market Scenario</a:t>
            </a:r>
          </a:p>
          <a:p>
            <a:r>
              <a:rPr lang="en-SG" dirty="0"/>
              <a:t>Trading Session</a:t>
            </a:r>
          </a:p>
          <a:p>
            <a:r>
              <a:rPr lang="en-SG" dirty="0"/>
              <a:t>Related Risk Factors</a:t>
            </a:r>
          </a:p>
          <a:p>
            <a:r>
              <a:rPr lang="en-SG" dirty="0"/>
              <a:t>Market Volatility</a:t>
            </a:r>
          </a:p>
          <a:p>
            <a:r>
              <a:rPr lang="en-SG" dirty="0"/>
              <a:t>Vendor Agreement</a:t>
            </a:r>
          </a:p>
          <a:p>
            <a:r>
              <a:rPr lang="en-SG" dirty="0"/>
              <a:t>Historical Alert Patterns</a:t>
            </a:r>
          </a:p>
          <a:p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FEC68-E80A-C0A4-EADE-B8F0F20F1620}"/>
              </a:ext>
            </a:extLst>
          </p:cNvPr>
          <p:cNvSpPr/>
          <p:nvPr/>
        </p:nvSpPr>
        <p:spPr>
          <a:xfrm>
            <a:off x="7738581" y="44965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5. BUSINESS IMPACT PRIORITISATION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75B9E-D731-1704-9536-322246073EE9}"/>
              </a:ext>
            </a:extLst>
          </p:cNvPr>
          <p:cNvSpPr txBox="1"/>
          <p:nvPr/>
        </p:nvSpPr>
        <p:spPr>
          <a:xfrm>
            <a:off x="7738581" y="5105275"/>
            <a:ext cx="18288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VaR Impact</a:t>
            </a:r>
          </a:p>
          <a:p>
            <a:r>
              <a:rPr lang="en-SG" dirty="0"/>
              <a:t>Trading Exposure</a:t>
            </a:r>
          </a:p>
          <a:p>
            <a:r>
              <a:rPr lang="en-SG" dirty="0"/>
              <a:t>Estimated P&amp;L Impact</a:t>
            </a:r>
          </a:p>
          <a:p>
            <a:r>
              <a:rPr lang="en-SG" dirty="0"/>
              <a:t>Portfolio Criticality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03D381-F359-C6A5-9455-F3916D5DFFEF}"/>
              </a:ext>
            </a:extLst>
          </p:cNvPr>
          <p:cNvSpPr/>
          <p:nvPr/>
        </p:nvSpPr>
        <p:spPr>
          <a:xfrm>
            <a:off x="7757861" y="5936272"/>
            <a:ext cx="1828800" cy="608682"/>
          </a:xfrm>
          <a:prstGeom prst="rect">
            <a:avLst/>
          </a:prstGeom>
          <a:solidFill>
            <a:srgbClr val="007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Rank alerts from Highest to Lowest Business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A9C2E-EA48-583D-FCD0-F3F5E6F96F06}"/>
              </a:ext>
            </a:extLst>
          </p:cNvPr>
          <p:cNvSpPr/>
          <p:nvPr/>
        </p:nvSpPr>
        <p:spPr>
          <a:xfrm>
            <a:off x="5287024" y="45219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6. GENERATIVE AI INVESTIGATION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E671C-7380-E3B3-5C4F-DABF69DAC47E}"/>
              </a:ext>
            </a:extLst>
          </p:cNvPr>
          <p:cNvSpPr txBox="1"/>
          <p:nvPr/>
        </p:nvSpPr>
        <p:spPr>
          <a:xfrm>
            <a:off x="5287024" y="5130675"/>
            <a:ext cx="18288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SG" dirty="0"/>
              <a:t>Explain:</a:t>
            </a:r>
          </a:p>
          <a:p>
            <a:r>
              <a:rPr lang="en-SG" dirty="0"/>
              <a:t>What happened</a:t>
            </a:r>
          </a:p>
          <a:p>
            <a:r>
              <a:rPr lang="en-SG" dirty="0"/>
              <a:t>Why is it suspicious?</a:t>
            </a:r>
          </a:p>
          <a:p>
            <a:r>
              <a:rPr lang="en-SG" dirty="0"/>
              <a:t>Business Impact</a:t>
            </a:r>
          </a:p>
          <a:p>
            <a:r>
              <a:rPr lang="en-SG" dirty="0"/>
              <a:t>Posible Root Cause</a:t>
            </a:r>
          </a:p>
          <a:p>
            <a:r>
              <a:rPr lang="en-SG" dirty="0"/>
              <a:t>Recommended Next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E27552-EDFA-4C37-4959-D692F85E02B2}"/>
              </a:ext>
            </a:extLst>
          </p:cNvPr>
          <p:cNvSpPr/>
          <p:nvPr/>
        </p:nvSpPr>
        <p:spPr>
          <a:xfrm>
            <a:off x="2619567" y="4545029"/>
            <a:ext cx="1828800" cy="6086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7. ANALYST COCKPIT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30964-C3A6-CD7A-537D-DFADD56DC820}"/>
              </a:ext>
            </a:extLst>
          </p:cNvPr>
          <p:cNvSpPr txBox="1"/>
          <p:nvPr/>
        </p:nvSpPr>
        <p:spPr>
          <a:xfrm>
            <a:off x="2511542" y="5247861"/>
            <a:ext cx="2425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200" dirty="0"/>
              <a:t>│  📊 Dashboard                </a:t>
            </a:r>
          </a:p>
          <a:p>
            <a:pPr>
              <a:buNone/>
            </a:pPr>
            <a:r>
              <a:rPr lang="en-SG" sz="1200" dirty="0"/>
              <a:t>│  🚨 Prioritised Alerts                     </a:t>
            </a:r>
          </a:p>
          <a:p>
            <a:pPr>
              <a:buNone/>
            </a:pPr>
            <a:r>
              <a:rPr lang="en-SG" sz="1200" dirty="0"/>
              <a:t>│  🤖 AI Assessment    </a:t>
            </a:r>
          </a:p>
          <a:p>
            <a:pPr>
              <a:buNone/>
            </a:pPr>
            <a:r>
              <a:rPr lang="en-SG" sz="1200" dirty="0"/>
              <a:t>│  📝 Investigation Report                  </a:t>
            </a:r>
          </a:p>
          <a:p>
            <a:pPr>
              <a:buNone/>
            </a:pPr>
            <a:r>
              <a:rPr lang="en-SG" sz="1200" dirty="0"/>
              <a:t>│  ✔ Human Decision &amp; Audit Trail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5128504-3B46-1B32-1FFE-9F61A09A4413}"/>
              </a:ext>
            </a:extLst>
          </p:cNvPr>
          <p:cNvSpPr/>
          <p:nvPr/>
        </p:nvSpPr>
        <p:spPr>
          <a:xfrm>
            <a:off x="3035300" y="2663744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525EB77-BB8C-BCE1-0CA5-9ED8F0DAC93B}"/>
              </a:ext>
            </a:extLst>
          </p:cNvPr>
          <p:cNvSpPr/>
          <p:nvPr/>
        </p:nvSpPr>
        <p:spPr>
          <a:xfrm>
            <a:off x="5645534" y="2675873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D51E192-7A19-97CD-0EB9-8D1F0DEA6A8A}"/>
              </a:ext>
            </a:extLst>
          </p:cNvPr>
          <p:cNvSpPr/>
          <p:nvPr/>
        </p:nvSpPr>
        <p:spPr>
          <a:xfrm>
            <a:off x="8365169" y="2539505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ent Up Arrow 30">
            <a:extLst>
              <a:ext uri="{FF2B5EF4-FFF2-40B4-BE49-F238E27FC236}">
                <a16:creationId xmlns:a16="http://schemas.microsoft.com/office/drawing/2014/main" id="{CA5D9B5E-D3F6-7449-BCCE-F174998AF667}"/>
              </a:ext>
            </a:extLst>
          </p:cNvPr>
          <p:cNvSpPr/>
          <p:nvPr/>
        </p:nvSpPr>
        <p:spPr>
          <a:xfrm rot="5400000" flipV="1">
            <a:off x="9760864" y="4474174"/>
            <a:ext cx="685800" cy="58935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BCE40E8D-F78B-296D-C548-E674C0D95D08}"/>
              </a:ext>
            </a:extLst>
          </p:cNvPr>
          <p:cNvSpPr/>
          <p:nvPr/>
        </p:nvSpPr>
        <p:spPr>
          <a:xfrm flipH="1">
            <a:off x="7340702" y="4800934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AF3870D-AD4F-97F6-7FA8-8D2A9B8DC7A6}"/>
              </a:ext>
            </a:extLst>
          </p:cNvPr>
          <p:cNvSpPr/>
          <p:nvPr/>
        </p:nvSpPr>
        <p:spPr>
          <a:xfrm flipH="1">
            <a:off x="4877752" y="4854215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CF98A-0148-E30D-DA4B-4320E243FDB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Today’s demonstration focuses on </a:t>
            </a:r>
            <a:r>
              <a:rPr lang="en-US" sz="1500" b="1" dirty="0"/>
              <a:t>FX market</a:t>
            </a:r>
            <a:r>
              <a:rPr lang="en-US" sz="1500" dirty="0"/>
              <a:t> data because it allowed us to validate the complete end-to-end workflow. However, the platform has been designed as a reusable control framework. By introducing asset-specific deterministic rules and connecting additional market data feeds, the same cockpit can monitor </a:t>
            </a:r>
            <a:r>
              <a:rPr lang="en-US" sz="1500" b="1" dirty="0"/>
              <a:t>fixed income, equities, commodities, derivatives, credit markets</a:t>
            </a:r>
            <a:r>
              <a:rPr lang="en-US" sz="1500" dirty="0"/>
              <a:t>, and even calculated risk metrics such as </a:t>
            </a:r>
            <a:r>
              <a:rPr lang="en-US" sz="1500" dirty="0" err="1"/>
              <a:t>VaR</a:t>
            </a:r>
            <a:r>
              <a:rPr lang="en-US" sz="1500" dirty="0"/>
              <a:t> or Expected Shortfall. This enables a single AI-powered control platform for enterprise-wide market data governance.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222FA-AF65-0048-E709-FFD29F01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45180"/>
            <a:ext cx="6903720" cy="53676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C13C75-38A9-D7BE-CD9C-FD6C2BA726FE}"/>
              </a:ext>
            </a:extLst>
          </p:cNvPr>
          <p:cNvSpPr/>
          <p:nvPr/>
        </p:nvSpPr>
        <p:spPr>
          <a:xfrm>
            <a:off x="3474732" y="80203"/>
            <a:ext cx="41792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High level </a:t>
            </a:r>
            <a:r>
              <a:rPr lang="en-GB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Architecture</a:t>
            </a:r>
            <a:endParaRPr lang="en-GB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29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CB69B7-5197-C375-B2B6-C3D52A16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85" y="182123"/>
            <a:ext cx="9590662" cy="639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7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5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88F46B-DEE2-FAED-70F8-112F0989C407}"/>
              </a:ext>
            </a:extLst>
          </p:cNvPr>
          <p:cNvSpPr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0" kern="1200" cap="none" spc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YAML &amp; Manifest based run time controls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6DB7B-D7EE-844C-A5F8-CE6CD037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96" y="961812"/>
            <a:ext cx="390780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8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14337A-2F8A-F705-20C7-9799FB39029B}"/>
              </a:ext>
            </a:extLst>
          </p:cNvPr>
          <p:cNvSpPr/>
          <p:nvPr/>
        </p:nvSpPr>
        <p:spPr>
          <a:xfrm>
            <a:off x="4139949" y="80203"/>
            <a:ext cx="284885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Smart use of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53D41-996C-DDA3-50CB-D84586A4D926}"/>
              </a:ext>
            </a:extLst>
          </p:cNvPr>
          <p:cNvSpPr txBox="1"/>
          <p:nvPr/>
        </p:nvSpPr>
        <p:spPr>
          <a:xfrm>
            <a:off x="1781503" y="853015"/>
            <a:ext cx="8671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dirty="0"/>
              <a:t>All risk calculations performed using </a:t>
            </a:r>
            <a:r>
              <a:rPr lang="en-SG" b="1" dirty="0"/>
              <a:t>deterministic Python and ML algorithms</a:t>
            </a:r>
            <a:endParaRPr lang="en-S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b="1" dirty="0"/>
              <a:t>LLM is never used for calculations, scoring or prioritization</a:t>
            </a:r>
            <a:endParaRPr lang="en-S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dirty="0"/>
              <a:t>LLM used only for </a:t>
            </a:r>
            <a:r>
              <a:rPr lang="en-SG" b="1" dirty="0"/>
              <a:t>explanation and natural-language interaction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D91F8-4A84-D4C7-0EEA-C5708E21661C}"/>
              </a:ext>
            </a:extLst>
          </p:cNvPr>
          <p:cNvSpPr txBox="1"/>
          <p:nvPr/>
        </p:nvSpPr>
        <p:spPr>
          <a:xfrm>
            <a:off x="5644055" y="1989342"/>
            <a:ext cx="164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35D1A-FD01-C120-B9CE-B8FBED7D6AD0}"/>
              </a:ext>
            </a:extLst>
          </p:cNvPr>
          <p:cNvSpPr txBox="1"/>
          <p:nvPr/>
        </p:nvSpPr>
        <p:spPr>
          <a:xfrm>
            <a:off x="1651440" y="2974427"/>
            <a:ext cx="16474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b="1" dirty="0"/>
              <a:t>Batch reports</a:t>
            </a:r>
            <a:r>
              <a:rPr lang="en-SG" dirty="0"/>
              <a:t> </a:t>
            </a:r>
            <a:r>
              <a:rPr lang="en-SG" sz="1600" dirty="0"/>
              <a:t>— generated only for prioritized investigations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BB806-6B68-5506-22AE-A551E774FEC9}"/>
              </a:ext>
            </a:extLst>
          </p:cNvPr>
          <p:cNvSpPr txBox="1"/>
          <p:nvPr/>
        </p:nvSpPr>
        <p:spPr>
          <a:xfrm>
            <a:off x="3916882" y="2974427"/>
            <a:ext cx="164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b="1" dirty="0"/>
              <a:t>On-demand reports</a:t>
            </a:r>
            <a:r>
              <a:rPr lang="en-SG" dirty="0"/>
              <a:t> </a:t>
            </a:r>
            <a:r>
              <a:rPr lang="en-SG" sz="1600" dirty="0"/>
              <a:t>— generated when requested by an analyst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3A23F-9BA6-952C-AD9E-BDA80897DA5E}"/>
              </a:ext>
            </a:extLst>
          </p:cNvPr>
          <p:cNvSpPr txBox="1"/>
          <p:nvPr/>
        </p:nvSpPr>
        <p:spPr>
          <a:xfrm>
            <a:off x="6692462" y="2974427"/>
            <a:ext cx="16474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b="1" dirty="0"/>
              <a:t>Risk Copilot</a:t>
            </a:r>
            <a:r>
              <a:rPr lang="en-SG" dirty="0"/>
              <a:t> </a:t>
            </a:r>
            <a:r>
              <a:rPr lang="en-SG" sz="1600" dirty="0"/>
              <a:t>— converts natural-language questions into </a:t>
            </a:r>
            <a:r>
              <a:rPr lang="en-SG" sz="1600" b="1" dirty="0"/>
              <a:t>validated read-only queries</a:t>
            </a:r>
            <a:r>
              <a:rPr lang="en-SG" sz="1600" dirty="0"/>
              <a:t> executed deterministically by Python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5FBA2-F19A-AE3A-3731-A75A0971A221}"/>
              </a:ext>
            </a:extLst>
          </p:cNvPr>
          <p:cNvSpPr txBox="1"/>
          <p:nvPr/>
        </p:nvSpPr>
        <p:spPr>
          <a:xfrm>
            <a:off x="9327931" y="2941003"/>
            <a:ext cx="164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b="1" dirty="0"/>
              <a:t>No mass LLM calls</a:t>
            </a:r>
            <a:r>
              <a:rPr lang="en-SG" dirty="0"/>
              <a:t> </a:t>
            </a:r>
            <a:r>
              <a:rPr lang="en-SG" sz="1600" dirty="0"/>
              <a:t>— controls cost, latency and governance</a:t>
            </a:r>
            <a:endParaRPr lang="en-SG" dirty="0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B06288B-2F1E-A748-C3AE-5193774503E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4163620" y="670243"/>
            <a:ext cx="615753" cy="39926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770D6E7-0CEE-0190-57B2-245FB60C11BA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16200000" flipH="1">
            <a:off x="8018577" y="807900"/>
            <a:ext cx="582329" cy="36838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D556561-A523-73CA-4973-23E253A54339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5296341" y="1802964"/>
            <a:ext cx="615753" cy="17271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6E6BE3AB-1897-1779-B27D-C01FD54F3BDB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16200000" flipH="1">
            <a:off x="6684130" y="2142346"/>
            <a:ext cx="615753" cy="10484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0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8B140-6EE7-90DD-6E10-B25C6E32A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077142"/>
              </p:ext>
            </p:extLst>
          </p:nvPr>
        </p:nvGraphicFramePr>
        <p:xfrm>
          <a:off x="643467" y="720010"/>
          <a:ext cx="10905067" cy="541798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43252">
                  <a:extLst>
                    <a:ext uri="{9D8B030D-6E8A-4147-A177-3AD203B41FA5}">
                      <a16:colId xmlns:a16="http://schemas.microsoft.com/office/drawing/2014/main" val="3475398518"/>
                    </a:ext>
                  </a:extLst>
                </a:gridCol>
                <a:gridCol w="3701667">
                  <a:extLst>
                    <a:ext uri="{9D8B030D-6E8A-4147-A177-3AD203B41FA5}">
                      <a16:colId xmlns:a16="http://schemas.microsoft.com/office/drawing/2014/main" val="2754645956"/>
                    </a:ext>
                  </a:extLst>
                </a:gridCol>
                <a:gridCol w="4960148">
                  <a:extLst>
                    <a:ext uri="{9D8B030D-6E8A-4147-A177-3AD203B41FA5}">
                      <a16:colId xmlns:a16="http://schemas.microsoft.com/office/drawing/2014/main" val="2053906769"/>
                    </a:ext>
                  </a:extLst>
                </a:gridCol>
              </a:tblGrid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Capability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Hackathon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Proposed Production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69219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Data Source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Synthetic FX market data (Reuters/Bloomberg simulation in CSV)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market data from Reuters, Bloomberg, ICE, exchanges, or internal market data platforms via streaming APIs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35794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(Pandas) 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Databricks, Apache Spark, or Kafka Streams for scalable real-time processing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8811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Rule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Python-based deterministic validation rules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Enterprise Business Rules Engine or centrally managed configurable rule service integrated with market data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7307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AI Anomaly Detection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Isolation Forest (Scikit-learn)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Databricks ML, or enterprise </a:t>
                      </a:r>
                      <a:r>
                        <a:rPr lang="en-SG" sz="1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MLOps</a:t>
                      </a: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 platform with continuous monitoring, retraining, and model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3424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Context Enrichment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Simulated scenarios and derived context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economic calendars, market news, volatility indices, reference data, peer asset movements, and macro event feeds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5665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Business Impact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calculations using synthetic exposures, P&amp;L, and VaR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Market Risk systems  using live positions and risk measures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186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Generative AI Investigation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OpenAI GPT API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OpenAI or approved enterprise LLM with Responsible AI controls, prompt governance, audit logging, and human approval workflow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68375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Dashboard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Stream lit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React/Angular web application with Power BI, Grafana, or internal enterprise dashboard framework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37262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Alert Storage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CSV files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Enterprise database (Azure SQL, PostgreSQL) with full audit trail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266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Workflow &amp; Case Management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review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ServiceNow, or enterprise incident management platforms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80508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Authentication &amp; Security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None (prototype)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IAM (Azure AD/Entra ID), RBAC, MFA, encryption, and full audit logging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13818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Local Terminal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Azure Kubernetes Service (AKS), or bank-approved cloud platform with CI/CD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071861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Monitoring &amp; Observability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Manual execution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COP (Central Observability Platform)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5177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65252A-7F24-68D4-7EED-FA4E7C2321E4}"/>
              </a:ext>
            </a:extLst>
          </p:cNvPr>
          <p:cNvSpPr/>
          <p:nvPr/>
        </p:nvSpPr>
        <p:spPr>
          <a:xfrm>
            <a:off x="3837111" y="80203"/>
            <a:ext cx="345453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Path to Production</a:t>
            </a:r>
          </a:p>
        </p:txBody>
      </p:sp>
    </p:spTree>
    <p:extLst>
      <p:ext uri="{BB962C8B-B14F-4D97-AF65-F5344CB8AC3E}">
        <p14:creationId xmlns:p14="http://schemas.microsoft.com/office/powerpoint/2010/main" val="116917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680</Words>
  <Application>Microsoft Macintosh PowerPoint</Application>
  <PresentationFormat>Widescreen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Debabrata Pruseth</dc:creator>
  <cp:lastModifiedBy>Debabrata Pruseth</cp:lastModifiedBy>
  <cp:revision>10</cp:revision>
  <dcterms:created xsi:type="dcterms:W3CDTF">2026-07-19T03:10:49Z</dcterms:created>
  <dcterms:modified xsi:type="dcterms:W3CDTF">2026-09-12T14:19:53Z</dcterms:modified>
</cp:coreProperties>
</file>