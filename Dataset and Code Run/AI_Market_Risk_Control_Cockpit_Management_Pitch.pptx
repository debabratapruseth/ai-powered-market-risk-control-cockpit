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8" r:id="rId12"/>
    <p:sldId id="269" r:id="rId13"/>
    <p:sldId id="267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C7DF-9EAE-5CB7-3DDF-D7D995893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7B229-A555-1DC4-8363-95254CDA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93BC3-FCE0-70BB-1851-E8FC491E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"/>
            <a:ext cx="12195244" cy="6856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453B3C-5D46-F269-7085-A4405D4315C3}"/>
              </a:ext>
            </a:extLst>
          </p:cNvPr>
          <p:cNvSpPr/>
          <p:nvPr/>
        </p:nvSpPr>
        <p:spPr>
          <a:xfrm>
            <a:off x="242047" y="215153"/>
            <a:ext cx="6401124" cy="2825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/>
              <a:t>SCB</a:t>
            </a:r>
          </a:p>
          <a:p>
            <a:pPr algn="ctr"/>
            <a:r>
              <a:rPr lang="en-SG" sz="4000" b="1" dirty="0"/>
              <a:t>AI-Powered Value at Risk Market Data Quality </a:t>
            </a:r>
          </a:p>
          <a:p>
            <a:pPr algn="ctr"/>
            <a:r>
              <a:rPr lang="en-SG" sz="4000" b="1" dirty="0"/>
              <a:t>Control Cockpit</a:t>
            </a:r>
          </a:p>
        </p:txBody>
      </p:sp>
    </p:spTree>
    <p:extLst>
      <p:ext uri="{BB962C8B-B14F-4D97-AF65-F5344CB8AC3E}">
        <p14:creationId xmlns:p14="http://schemas.microsoft.com/office/powerpoint/2010/main" val="400492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2463A0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Market Risk teams need decisions, not more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9323" y="1217268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6570"/>
                </a:solidFill>
                <a:latin typeface="Aptos"/>
              </a:rPr>
              <a:t>Thousands of technical alerts can compete for attention — but only a small subset may warrant immediate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3A0"/>
                </a:solidFill>
                <a:latin typeface="Aptos"/>
              </a:rPr>
              <a:t>MARKET DATA
FEEDS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606040"/>
            <a:ext cx="347472" cy="0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23957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C9623"/>
                </a:solidFill>
                <a:latin typeface="Aptos"/>
              </a:rPr>
              <a:t>TECHNICAL
ALERTS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606040"/>
            <a:ext cx="347472" cy="0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7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23957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C702D"/>
                </a:solidFill>
                <a:latin typeface="Aptos"/>
              </a:rPr>
              <a:t>MANUAL
INVESTIGATION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2606040"/>
            <a:ext cx="347472" cy="0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7804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79" y="23957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F4E9A"/>
                </a:solidFill>
                <a:latin typeface="Aptos"/>
              </a:rPr>
              <a:t>BUSINESS
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606040"/>
            <a:ext cx="347472" cy="0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23957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D8755"/>
                </a:solidFill>
                <a:latin typeface="Aptos"/>
              </a:rPr>
              <a:t>PRIORITISATION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599"/>
            <a:ext cx="10652760" cy="1755645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587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B4D"/>
                </a:solidFill>
                <a:latin typeface="Aptos"/>
              </a:rPr>
              <a:t>Why the current process is 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24528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Rule breaches do not automatically mean material business risk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Analysts must connect data-quality issues with exposure and risk context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High alert volumes create noise and investigation effort</a:t>
            </a:r>
          </a:p>
          <a:p>
            <a:pPr>
              <a:spcAft>
                <a:spcPts val="400"/>
              </a:spcAft>
              <a:defRPr sz="1300">
                <a:solidFill>
                  <a:srgbClr val="2A3038"/>
                </a:solidFill>
                <a:latin typeface="Aptos"/>
              </a:defRPr>
            </a:pPr>
            <a:r>
              <a:t>• Technical evidence is difficult to communicate quickly to senior stakeholders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112B4D"/>
                </a:solidFill>
                <a:latin typeface="Aptos"/>
              </a:rPr>
              <a:t>The opportunity is not simply to detect more anomalies — it is to identify which ones matter.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dirty="0">
                <a:solidFill>
                  <a:srgbClr val="2463A0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dirty="0">
                <a:solidFill>
                  <a:srgbClr val="112B4D"/>
                </a:solidFill>
                <a:latin typeface="Aptos"/>
              </a:rPr>
              <a:t>One control cockpit moves from detection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938" y="1161514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5C6570"/>
                </a:solidFill>
                <a:latin typeface="Aptos"/>
              </a:rPr>
              <a:t>One observation. Multiple analytical lenses. One prioritized control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3200400" cy="64008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9842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2B4D"/>
                </a:solidFill>
                <a:latin typeface="Aptos"/>
              </a:rPr>
              <a:t>ENRICHED MARKET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0449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463A0"/>
                </a:solidFill>
                <a:latin typeface="Aptos"/>
              </a:rPr>
              <a:t>RULE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Aptos"/>
              </a:rPr>
              <a:t>Known control breaches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23160" y="2423160"/>
            <a:ext cx="3657600" cy="393192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283464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7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0449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7974"/>
                </a:solidFill>
                <a:latin typeface="Aptos"/>
              </a:rPr>
              <a:t>ML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6499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Aptos"/>
              </a:rPr>
              <a:t>Unusual multivariate patterns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423160"/>
            <a:ext cx="0" cy="393192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2834640"/>
            <a:ext cx="3200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30449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C9623"/>
                </a:solidFill>
                <a:latin typeface="Aptos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6499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Aptos"/>
              </a:rPr>
              <a:t>Corroborating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423160"/>
            <a:ext cx="3657600" cy="393192"/>
          </a:xfrm>
          <a:prstGeom prst="line">
            <a:avLst/>
          </a:prstGeom>
          <a:ln w="1905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60" y="4160518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437083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4E9A"/>
                </a:solidFill>
                <a:latin typeface="Aptos"/>
              </a:rPr>
              <a:t>EVIDENCE CONFIDENCE</a:t>
            </a:r>
          </a:p>
        </p:txBody>
      </p:sp>
      <p:cxnSp>
        <p:nvCxnSpPr>
          <p:cNvPr id="22" name="Connector 21"/>
          <p:cNvCxnSpPr>
            <a:cxnSpLocks/>
            <a:endCxn id="20" idx="0"/>
          </p:cNvCxnSpPr>
          <p:nvPr/>
        </p:nvCxnSpPr>
        <p:spPr>
          <a:xfrm>
            <a:off x="9738360" y="3616342"/>
            <a:ext cx="0" cy="544176"/>
          </a:xfrm>
          <a:prstGeom prst="line">
            <a:avLst/>
          </a:prstGeom>
          <a:ln w="19050">
            <a:solidFill>
              <a:srgbClr val="DC9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60" y="4164982"/>
            <a:ext cx="3200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3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4375294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F3C3E"/>
                </a:solidFill>
                <a:latin typeface="Aptos"/>
              </a:rPr>
              <a:t>BUSINESS IMPACT</a:t>
            </a:r>
          </a:p>
        </p:txBody>
      </p:sp>
      <p:cxnSp>
        <p:nvCxnSpPr>
          <p:cNvPr id="25" name="Connector 24"/>
          <p:cNvCxnSpPr>
            <a:cxnSpLocks/>
            <a:endCxn id="23" idx="1"/>
          </p:cNvCxnSpPr>
          <p:nvPr/>
        </p:nvCxnSpPr>
        <p:spPr>
          <a:xfrm>
            <a:off x="2423160" y="3616342"/>
            <a:ext cx="2057400" cy="877824"/>
          </a:xfrm>
          <a:prstGeom prst="line">
            <a:avLst/>
          </a:prstGeom>
          <a:ln w="1778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3794760"/>
            <a:ext cx="0" cy="548640"/>
          </a:xfrm>
          <a:prstGeom prst="line">
            <a:avLst/>
          </a:prstGeom>
          <a:ln w="1778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20" idx="1"/>
            <a:endCxn id="23" idx="3"/>
          </p:cNvCxnSpPr>
          <p:nvPr/>
        </p:nvCxnSpPr>
        <p:spPr>
          <a:xfrm flipH="1">
            <a:off x="7680960" y="4489702"/>
            <a:ext cx="457200" cy="4464"/>
          </a:xfrm>
          <a:prstGeom prst="line">
            <a:avLst/>
          </a:prstGeom>
          <a:ln w="17780">
            <a:solidFill>
              <a:srgbClr val="6F4E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83809" y="5193124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38141" y="5381134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8755"/>
                </a:solidFill>
                <a:latin typeface="Aptos"/>
              </a:rPr>
              <a:t>PRIORITY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11493" y="5170822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30365" y="5381134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12B4D"/>
                </a:solidFill>
                <a:latin typeface="Aptos"/>
              </a:rPr>
              <a:t>ACTION</a:t>
            </a:r>
          </a:p>
        </p:txBody>
      </p:sp>
      <p:cxnSp>
        <p:nvCxnSpPr>
          <p:cNvPr id="32" name="Connector 31"/>
          <p:cNvCxnSpPr>
            <a:cxnSpLocks/>
            <a:stCxn id="23" idx="2"/>
            <a:endCxn id="28" idx="0"/>
          </p:cNvCxnSpPr>
          <p:nvPr/>
        </p:nvCxnSpPr>
        <p:spPr>
          <a:xfrm>
            <a:off x="6080760" y="4823350"/>
            <a:ext cx="11709" cy="369774"/>
          </a:xfrm>
          <a:prstGeom prst="line">
            <a:avLst/>
          </a:prstGeom>
          <a:ln w="17780">
            <a:solidFill>
              <a:srgbClr val="BF3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45733" y="5500006"/>
            <a:ext cx="365760" cy="0"/>
          </a:xfrm>
          <a:prstGeom prst="line">
            <a:avLst/>
          </a:prstGeom>
          <a:ln w="17780">
            <a:solidFill>
              <a:srgbClr val="2D8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17320" y="6053328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2463A0"/>
                </a:solidFill>
                <a:latin typeface="Aptos"/>
              </a:rPr>
              <a:t>DETECT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8101" y="6109530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4E9A"/>
                </a:solidFill>
                <a:latin typeface="Aptos"/>
              </a:rPr>
              <a:t>ASSESS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6053328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2D8755"/>
                </a:solidFill>
                <a:latin typeface="Aptos"/>
              </a:rPr>
              <a:t>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A0"/>
                </a:solidFill>
                <a:latin typeface="Aptos"/>
              </a:rPr>
              <a:t>WHY IT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Technical severity is not the same as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0475" y="1217268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Aptos"/>
              </a:rPr>
              <a:t>A technically extreme anomaly can still be prioritised below Critical once evidence and materiality are considered.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6400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Aptos"/>
              </a:rPr>
              <a:t>Rule 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176272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F3C3E"/>
                </a:solidFill>
                <a:latin typeface="Aptos"/>
              </a:rPr>
              <a:t>CRITICAL · 100/100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Aptos"/>
              </a:rPr>
              <a:t>ML 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57860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F3C3E"/>
                </a:solidFill>
                <a:latin typeface="Aptos"/>
              </a:rPr>
              <a:t>CRITICAL · 98.5/100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80944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Aptos"/>
              </a:rPr>
              <a:t>Evidence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980944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F4E9A"/>
                </a:solidFill>
                <a:latin typeface="Aptos"/>
              </a:rPr>
              <a:t>82.2/100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79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Aptos"/>
              </a:rPr>
              <a:t>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383279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A3038"/>
                </a:solidFill>
                <a:latin typeface="Aptos"/>
              </a:rPr>
              <a:t>$16.3M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85615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Aptos"/>
              </a:rPr>
              <a:t>Portfolio Risk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785615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A3038"/>
                </a:solidFill>
                <a:latin typeface="Aptos"/>
              </a:rPr>
              <a:t>4.47%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142232"/>
            <a:ext cx="6126480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8795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3038"/>
                </a:solidFill>
                <a:latin typeface="Aptos"/>
              </a:rPr>
              <a:t>Business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187952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DC702D"/>
                </a:solidFill>
                <a:latin typeface="Aptos"/>
              </a:rPr>
              <a:t>76.3/100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544568"/>
            <a:ext cx="6126480" cy="38404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3038"/>
                </a:solidFill>
                <a:latin typeface="Aptos"/>
              </a:rPr>
              <a:t>Final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902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DC702D"/>
                </a:solidFill>
                <a:latin typeface="Aptos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92624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3038"/>
                </a:solidFill>
                <a:latin typeface="Aptos"/>
              </a:rPr>
              <a:t>Required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992624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12B4D"/>
                </a:solidFill>
                <a:latin typeface="Aptos"/>
              </a:rPr>
              <a:t>Investigate within 1 hour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965960"/>
            <a:ext cx="3794760" cy="361188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246888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F3C3E"/>
                </a:solidFill>
                <a:latin typeface="Aptos"/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88950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570"/>
                </a:solidFill>
                <a:latin typeface="Aptos"/>
              </a:rPr>
              <a:t>technical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246120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12B4D"/>
                </a:solidFill>
                <a:latin typeface="Aptos"/>
              </a:rPr>
              <a:t>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8862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4BCC6"/>
                </a:solidFill>
                <a:latin typeface="Aptos"/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3159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570"/>
                </a:solidFill>
                <a:latin typeface="Aptos"/>
              </a:rPr>
              <a:t>business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80060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12B4D"/>
                </a:solidFill>
                <a:latin typeface="Aptos"/>
              </a:rPr>
              <a:t>Business Impact combines technical severity, supporting evidence and materiality before Final Priority is assigned.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A0"/>
                </a:solidFill>
                <a:latin typeface="Aptos"/>
              </a:rPr>
              <a:t>PROTOTYPE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The prototype concentrates attention on a small actionable subset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9323" y="1194966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Aptos"/>
              </a:rPr>
              <a:t>Prioritisation shifts the operating model from treating every alert alike to focusing investigation effort by evidence and materiality.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All investigations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2057400"/>
            <a:ext cx="5760720" cy="3200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20756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7,556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038"/>
                </a:solidFill>
                <a:latin typeface="Aptos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2624328"/>
            <a:ext cx="5315476" cy="32004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264261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6,972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038"/>
                </a:solidFill>
                <a:latin typeface="Aptos"/>
              </a:rP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3191256"/>
            <a:ext cx="382726" cy="320040"/>
          </a:xfrm>
          <a:prstGeom prst="rect">
            <a:avLst/>
          </a:prstGeom>
          <a:solidFill>
            <a:srgbClr val="2D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20954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038"/>
                </a:solidFill>
                <a:latin typeface="Aptos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758184"/>
            <a:ext cx="172821" cy="320040"/>
          </a:xfrm>
          <a:prstGeom prst="rect">
            <a:avLst/>
          </a:prstGeom>
          <a:solidFill>
            <a:srgbClr val="DC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37764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038"/>
                </a:solidFill>
                <a:latin typeface="Aptos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4325112"/>
            <a:ext cx="172821" cy="320040"/>
          </a:xfrm>
          <a:prstGeom prst="rect">
            <a:avLst/>
          </a:prstGeom>
          <a:solidFill>
            <a:srgbClr val="DC7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43434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038"/>
                </a:solidFill>
                <a:latin typeface="Aptos"/>
              </a:rPr>
              <a:t>Critical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4892040"/>
            <a:ext cx="172821" cy="320040"/>
          </a:xfrm>
          <a:prstGeom prst="rect">
            <a:avLst/>
          </a:prstGeom>
          <a:solidFill>
            <a:srgbClr val="BF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491032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A3038"/>
                </a:solidFill>
                <a:latin typeface="Aptos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057400"/>
            <a:ext cx="2240280" cy="224028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395728"/>
            <a:ext cx="1874519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400" b="1" dirty="0">
                <a:solidFill>
                  <a:srgbClr val="112B4D"/>
                </a:solidFill>
                <a:latin typeface="Aptos"/>
              </a:rPr>
              <a:t>59</a:t>
            </a:r>
            <a:endParaRPr sz="3400" b="1" dirty="0">
              <a:solidFill>
                <a:srgbClr val="112B4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72600" y="2999232"/>
            <a:ext cx="187451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A3038"/>
                </a:solidFill>
                <a:latin typeface="Aptos"/>
              </a:rPr>
              <a:t>Medium / High /
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7033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463A0"/>
                </a:solidFill>
                <a:latin typeface="Aptos"/>
              </a:rPr>
              <a:t>≈ 1.1% of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9671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12B4D"/>
                </a:solidFill>
                <a:latin typeface="Aptos"/>
              </a:rPr>
              <a:t>Prototype result: prioritisation concentrates attention on ~1% of investigations at Medium priority or above.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A0"/>
                </a:solidFill>
                <a:latin typeface="Aptos"/>
              </a:rPr>
              <a:t>SMART USE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AI is used where it adds value — not where deterministic controls are stronger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Aptos"/>
              </a:rPr>
              <a:t>Calculations and control decisions remain deterministic; GenAI is constrained to explanation and natural-language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971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63A0"/>
                </a:solidFill>
                <a:latin typeface="Aptos"/>
              </a:rPr>
              <a:t>CALCULATE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Rule calculations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Context metrics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Business Impact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Priority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Financial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057400"/>
            <a:ext cx="2971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7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228600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7974"/>
                </a:solidFill>
                <a:latin typeface="Aptos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15184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27248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Isolation Forest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Multivariate anomaly detection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Complements deterministic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2971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28600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4E9A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15184"/>
            <a:ext cx="2606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27248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Prioritised batch reports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On-demand investigation reports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Natural-language Risk Copilot</a:t>
            </a:r>
          </a:p>
          <a:p>
            <a:pPr>
              <a:spcAft>
                <a:spcPts val="500"/>
              </a:spcAft>
              <a:defRPr sz="1200">
                <a:solidFill>
                  <a:srgbClr val="2A3038"/>
                </a:solidFill>
                <a:latin typeface="Aptos"/>
              </a:defRPr>
            </a:pPr>
            <a:r>
              <a:t>• Executive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  <a:latin typeface="Aptos"/>
              </a:rPr>
              <a:t>LLM does not calculate risk, determine priority, override controls or modify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5715000"/>
            <a:ext cx="9144000" cy="5029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91640" y="5852160"/>
            <a:ext cx="8778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B4D"/>
                </a:solidFill>
                <a:latin typeface="Aptos"/>
              </a:rPr>
              <a:t>Python calculates.  ML detects.  LLM explains.  Humans decide.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A0"/>
                </a:solidFill>
                <a:latin typeface="Aptos"/>
              </a:rPr>
              <a:t>GOVERNED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Risk Copilot enables natural-language interrogation without giving the LLM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Aptos"/>
              </a:rPr>
              <a:t>The LLM interprets the question; deterministic validation and Python execution retain control of the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2B4D"/>
                </a:solidFill>
                <a:latin typeface="Aptos"/>
              </a:rPr>
              <a:t>ANALYST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29968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038"/>
                </a:solidFill>
                <a:latin typeface="Aptos"/>
              </a:rPr>
              <a:t>“Show me High and Critical Treasury investigations”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2578608"/>
            <a:ext cx="0" cy="182880"/>
          </a:xfrm>
          <a:prstGeom prst="line">
            <a:avLst/>
          </a:prstGeom>
          <a:ln w="1651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761488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4E9A"/>
                </a:solidFill>
                <a:latin typeface="Aptos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871216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038"/>
                </a:solidFill>
                <a:latin typeface="Aptos"/>
              </a:rPr>
              <a:t>Natural language → structured 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3419856"/>
            <a:ext cx="0" cy="182880"/>
          </a:xfrm>
          <a:prstGeom prst="line">
            <a:avLst/>
          </a:prstGeom>
          <a:ln w="1651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3602736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721608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9623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712463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038"/>
                </a:solidFill>
                <a:latin typeface="Aptos"/>
              </a:rPr>
              <a:t>Allowed fields · operators · limits · read-only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4261104"/>
            <a:ext cx="0" cy="182880"/>
          </a:xfrm>
          <a:prstGeom prst="line">
            <a:avLst/>
          </a:prstGeom>
          <a:ln w="1651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443984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PYTHON /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553712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038"/>
                </a:solidFill>
                <a:latin typeface="Aptos"/>
              </a:rPr>
              <a:t>Deterministic execution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9080" y="5102352"/>
            <a:ext cx="0" cy="182880"/>
          </a:xfrm>
          <a:prstGeom prst="line">
            <a:avLst/>
          </a:prstGeom>
          <a:ln w="1651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5285232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40410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8755"/>
                </a:solidFill>
                <a:latin typeface="Aptos"/>
              </a:rPr>
              <a:t>GROUNDED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39496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038"/>
                </a:solidFill>
                <a:latin typeface="Aptos"/>
              </a:rPr>
              <a:t>Saved control results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9202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B4D"/>
                </a:solidFill>
                <a:latin typeface="Aptos"/>
              </a:rPr>
              <a:t>Data Sources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2331720"/>
            <a:ext cx="3246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244144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Market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450591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D8755"/>
                </a:solidFill>
                <a:latin typeface="Aptos"/>
              </a:rPr>
              <a:t>CONNECTED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2999232"/>
            <a:ext cx="3246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3108960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Positions &amp;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118103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DC9623"/>
                </a:solidFill>
                <a:latin typeface="Aptos"/>
              </a:rPr>
              <a:t>NOT CONNECTED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666744"/>
            <a:ext cx="3246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377647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Trade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785615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DC9623"/>
                </a:solidFill>
                <a:latin typeface="Aptos"/>
              </a:rPr>
              <a:t>NOT CONNECTED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4334256"/>
            <a:ext cx="3246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92440" y="4443984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Risk &amp;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4531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DC9623"/>
                </a:solidFill>
                <a:latin typeface="Aptos"/>
              </a:rPr>
              <a:t>NOT CONNECTED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5001768"/>
            <a:ext cx="3246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40" y="5111496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3038"/>
                </a:solidFill>
                <a:latin typeface="Aptos"/>
              </a:rPr>
              <a:t>Historical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512064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DC9623"/>
                </a:solidFill>
                <a:latin typeface="Aptos"/>
              </a:rPr>
              <a:t>NOT CONNECTED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80644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Aptos"/>
              </a:rPr>
              <a:t>Future sources are shown for extensibility; only Market Data is connected today.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463A0"/>
                </a:solidFill>
                <a:latin typeface="Aptos"/>
              </a:rPr>
              <a:t>PATH TO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B4D"/>
                </a:solidFill>
                <a:latin typeface="Aptos"/>
              </a:rPr>
              <a:t>The next step is a controlled pilot with Market Risk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40080" cy="32004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Aptos"/>
              </a:rPr>
              <a:t>Validate prioritisation with historical cases first; connect enterprise risk data only after the control value is proven.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971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463A0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Rules + ML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Contextual corroboration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Business Impact &amp; Priority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Investigation reports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Risk Copilot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3520440"/>
            <a:ext cx="338328" cy="0"/>
          </a:xfrm>
          <a:prstGeom prst="line">
            <a:avLst/>
          </a:prstGeom>
          <a:ln w="1778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2057400"/>
            <a:ext cx="2971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267712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DC9623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7860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1089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Back-test historical cases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Risk analyst feedback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Threshold calibration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False positive / negative review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Measure investigation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3520440"/>
            <a:ext cx="338328" cy="0"/>
          </a:xfrm>
          <a:prstGeom prst="line">
            <a:avLst/>
          </a:prstGeom>
          <a:ln w="1778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2057400"/>
            <a:ext cx="2971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2267712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8755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7860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12B4D"/>
                </a:solidFill>
                <a:latin typeface="Aptos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089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Live market data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Positions &amp; exposures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Trades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Risk &amp; limits</a:t>
            </a:r>
          </a:p>
          <a:p>
            <a:pPr>
              <a:spcAft>
                <a:spcPts val="500"/>
              </a:spcAft>
              <a:defRPr sz="1150">
                <a:solidFill>
                  <a:srgbClr val="2A3038"/>
                </a:solidFill>
                <a:latin typeface="Aptos"/>
              </a:defRPr>
            </a:pPr>
            <a:r>
              <a:t>• Workflow / case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744200" cy="77724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504688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MANAGEMENT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468112"/>
            <a:ext cx="8458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B4D"/>
                </a:solidFill>
                <a:latin typeface="Aptos"/>
              </a:rPr>
              <a:t>Sponsor a controlled pilot with Market Risk / Market Data Operations using historical control cases.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806440"/>
            <a:ext cx="8458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570"/>
                </a:solidFill>
                <a:latin typeface="Aptos"/>
              </a:rPr>
              <a:t>Success: focus of alert queue · investigation time · analyst acceptance · detection quality · control effectiveness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570"/>
                </a:solidFill>
                <a:latin typeface="Aptos"/>
              </a:rPr>
              <a:t>AI-Powered Market Risk Control Cockpit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5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028E24-1505-EED4-54D1-9CA22D03A53C}"/>
              </a:ext>
            </a:extLst>
          </p:cNvPr>
          <p:cNvSpPr/>
          <p:nvPr/>
        </p:nvSpPr>
        <p:spPr>
          <a:xfrm>
            <a:off x="4369404" y="2967335"/>
            <a:ext cx="34531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562753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1503FF-BF4D-C8AD-46B2-58E4E0F5100E}"/>
              </a:ext>
            </a:extLst>
          </p:cNvPr>
          <p:cNvSpPr/>
          <p:nvPr/>
        </p:nvSpPr>
        <p:spPr>
          <a:xfrm>
            <a:off x="319489" y="1097708"/>
            <a:ext cx="11457542" cy="556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DA84-C90C-1989-2536-F7FABD9C8AC8}"/>
              </a:ext>
            </a:extLst>
          </p:cNvPr>
          <p:cNvSpPr txBox="1"/>
          <p:nvPr/>
        </p:nvSpPr>
        <p:spPr>
          <a:xfrm>
            <a:off x="176270" y="194228"/>
            <a:ext cx="11600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dirty="0"/>
              <a:t>Today, we’re demonstrating an </a:t>
            </a:r>
            <a:r>
              <a:rPr lang="en-SG" sz="1600" b="1" dirty="0"/>
              <a:t>AI-powered Market Data Quality Control Cockpit</a:t>
            </a:r>
            <a:r>
              <a:rPr lang="en-SG" sz="1600" dirty="0"/>
              <a:t> for Market Risk. Our pilot focuses on </a:t>
            </a:r>
            <a:r>
              <a:rPr lang="en-SG" sz="1600" b="1" dirty="0">
                <a:highlight>
                  <a:srgbClr val="FFFF00"/>
                </a:highlight>
              </a:rPr>
              <a:t>FX market data</a:t>
            </a:r>
            <a:r>
              <a:rPr lang="en-SG" sz="1600" dirty="0"/>
              <a:t>, helping risk analysts automatically detect, prioritise, and investigate market data quality issues before they impact valuations, VaR calculations, and trading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F45E3-4FC5-A0D5-5EBD-58D8FB296A24}"/>
              </a:ext>
            </a:extLst>
          </p:cNvPr>
          <p:cNvSpPr txBox="1"/>
          <p:nvPr/>
        </p:nvSpPr>
        <p:spPr>
          <a:xfrm>
            <a:off x="3553858" y="1169907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MARKET RISK CONTROL COCKPIT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2D310-DFA2-7A37-6F55-2FA2742186D2}"/>
              </a:ext>
            </a:extLst>
          </p:cNvPr>
          <p:cNvSpPr txBox="1"/>
          <p:nvPr/>
        </p:nvSpPr>
        <p:spPr>
          <a:xfrm>
            <a:off x="3553858" y="1545872"/>
            <a:ext cx="415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Detect • Prioritise • Explain • Investigate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BA4B1-DD32-81AC-2FC3-B085AEE64199}"/>
              </a:ext>
            </a:extLst>
          </p:cNvPr>
          <p:cNvSpPr/>
          <p:nvPr/>
        </p:nvSpPr>
        <p:spPr>
          <a:xfrm>
            <a:off x="989683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1. MARKET DATA SOURCES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B7BB2-A03A-ED48-7A00-8DCD6B560ABD}"/>
              </a:ext>
            </a:extLst>
          </p:cNvPr>
          <p:cNvSpPr txBox="1"/>
          <p:nvPr/>
        </p:nvSpPr>
        <p:spPr>
          <a:xfrm>
            <a:off x="989683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Reuters  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Bloomberg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Internal Market Data Feed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Exchange Prices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Reference Data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Historical Market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8F420-AD11-70FC-2DCD-28249B3C516E}"/>
              </a:ext>
            </a:extLst>
          </p:cNvPr>
          <p:cNvSpPr/>
          <p:nvPr/>
        </p:nvSpPr>
        <p:spPr>
          <a:xfrm>
            <a:off x="353396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2. DATA QUALITY VALIDATION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1630C-A71C-F196-4E95-8F4CEE70D3A2}"/>
              </a:ext>
            </a:extLst>
          </p:cNvPr>
          <p:cNvSpPr txBox="1"/>
          <p:nvPr/>
        </p:nvSpPr>
        <p:spPr>
          <a:xfrm>
            <a:off x="353396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Stale Prices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Feed Latency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Vendor Price Mismatch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Large Price Movement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Missing or Invalid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E5460-25D6-D94F-AA63-1B2EDB68A5A5}"/>
              </a:ext>
            </a:extLst>
          </p:cNvPr>
          <p:cNvSpPr/>
          <p:nvPr/>
        </p:nvSpPr>
        <p:spPr>
          <a:xfrm>
            <a:off x="6344951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3. AI ANOMALY DETECTION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14021-6014-2A88-C911-40B6CEE984A2}"/>
              </a:ext>
            </a:extLst>
          </p:cNvPr>
          <p:cNvSpPr txBox="1"/>
          <p:nvPr/>
        </p:nvSpPr>
        <p:spPr>
          <a:xfrm>
            <a:off x="6344951" y="2663744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Detect unusual market behaviour</a:t>
            </a:r>
          </a:p>
          <a:p>
            <a:r>
              <a:rPr lang="en-SG" dirty="0"/>
              <a:t>Learn historical patterns</a:t>
            </a:r>
          </a:p>
          <a:p>
            <a:r>
              <a:rPr lang="en-SG" dirty="0"/>
              <a:t>Identify anomalies missed by static rules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0AE5E-DCB3-9B94-9804-CB506E578B46}"/>
              </a:ext>
            </a:extLst>
          </p:cNvPr>
          <p:cNvSpPr/>
          <p:nvPr/>
        </p:nvSpPr>
        <p:spPr>
          <a:xfrm>
            <a:off x="877248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4. MARKET CONTEXT ENRICHMENT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07475-0208-1BA8-5F55-DCD66CB40A80}"/>
              </a:ext>
            </a:extLst>
          </p:cNvPr>
          <p:cNvSpPr txBox="1"/>
          <p:nvPr/>
        </p:nvSpPr>
        <p:spPr>
          <a:xfrm>
            <a:off x="877248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Market Scenario</a:t>
            </a:r>
          </a:p>
          <a:p>
            <a:r>
              <a:rPr lang="en-SG" dirty="0"/>
              <a:t>Trading Session</a:t>
            </a:r>
          </a:p>
          <a:p>
            <a:r>
              <a:rPr lang="en-SG" dirty="0"/>
              <a:t>Related Risk Factors</a:t>
            </a:r>
          </a:p>
          <a:p>
            <a:r>
              <a:rPr lang="en-SG" dirty="0"/>
              <a:t>Market Volatility</a:t>
            </a:r>
          </a:p>
          <a:p>
            <a:r>
              <a:rPr lang="en-SG" dirty="0"/>
              <a:t>Vendor Agreement</a:t>
            </a:r>
          </a:p>
          <a:p>
            <a:r>
              <a:rPr lang="en-SG" dirty="0"/>
              <a:t>Historical Alert Patterns</a:t>
            </a:r>
          </a:p>
          <a:p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FEC68-E80A-C0A4-EADE-B8F0F20F1620}"/>
              </a:ext>
            </a:extLst>
          </p:cNvPr>
          <p:cNvSpPr/>
          <p:nvPr/>
        </p:nvSpPr>
        <p:spPr>
          <a:xfrm>
            <a:off x="7738581" y="44965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5. BUSINESS IMPACT PRIORITISATION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75B9E-D731-1704-9536-322246073EE9}"/>
              </a:ext>
            </a:extLst>
          </p:cNvPr>
          <p:cNvSpPr txBox="1"/>
          <p:nvPr/>
        </p:nvSpPr>
        <p:spPr>
          <a:xfrm>
            <a:off x="7738581" y="5105275"/>
            <a:ext cx="18288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VaR Impact</a:t>
            </a:r>
          </a:p>
          <a:p>
            <a:r>
              <a:rPr lang="en-SG" dirty="0"/>
              <a:t>Trading Exposure</a:t>
            </a:r>
          </a:p>
          <a:p>
            <a:r>
              <a:rPr lang="en-SG" dirty="0"/>
              <a:t>Estimated P&amp;L Impact</a:t>
            </a:r>
          </a:p>
          <a:p>
            <a:r>
              <a:rPr lang="en-SG" dirty="0"/>
              <a:t>Portfolio Criticality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03D381-F359-C6A5-9455-F3916D5DFFEF}"/>
              </a:ext>
            </a:extLst>
          </p:cNvPr>
          <p:cNvSpPr/>
          <p:nvPr/>
        </p:nvSpPr>
        <p:spPr>
          <a:xfrm>
            <a:off x="7757861" y="5936272"/>
            <a:ext cx="1828800" cy="608682"/>
          </a:xfrm>
          <a:prstGeom prst="rect">
            <a:avLst/>
          </a:prstGeom>
          <a:solidFill>
            <a:srgbClr val="007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Rank alerts from Highest to Lowest Business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A9C2E-EA48-583D-FCD0-F3F5E6F96F06}"/>
              </a:ext>
            </a:extLst>
          </p:cNvPr>
          <p:cNvSpPr/>
          <p:nvPr/>
        </p:nvSpPr>
        <p:spPr>
          <a:xfrm>
            <a:off x="5287024" y="45219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6. GENERATIVE AI INVESTIGATION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E671C-7380-E3B3-5C4F-DABF69DAC47E}"/>
              </a:ext>
            </a:extLst>
          </p:cNvPr>
          <p:cNvSpPr txBox="1"/>
          <p:nvPr/>
        </p:nvSpPr>
        <p:spPr>
          <a:xfrm>
            <a:off x="5287024" y="5130675"/>
            <a:ext cx="18288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SG" dirty="0"/>
              <a:t>Explain:</a:t>
            </a:r>
          </a:p>
          <a:p>
            <a:r>
              <a:rPr lang="en-SG" dirty="0"/>
              <a:t>What happened</a:t>
            </a:r>
          </a:p>
          <a:p>
            <a:r>
              <a:rPr lang="en-SG" dirty="0"/>
              <a:t>Why is it suspicious?</a:t>
            </a:r>
          </a:p>
          <a:p>
            <a:r>
              <a:rPr lang="en-SG" dirty="0"/>
              <a:t>Business Impact</a:t>
            </a:r>
          </a:p>
          <a:p>
            <a:r>
              <a:rPr lang="en-SG" dirty="0"/>
              <a:t>Posible Root Cause</a:t>
            </a:r>
          </a:p>
          <a:p>
            <a:r>
              <a:rPr lang="en-SG" dirty="0"/>
              <a:t>Recommended Next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E27552-EDFA-4C37-4959-D692F85E02B2}"/>
              </a:ext>
            </a:extLst>
          </p:cNvPr>
          <p:cNvSpPr/>
          <p:nvPr/>
        </p:nvSpPr>
        <p:spPr>
          <a:xfrm>
            <a:off x="2619567" y="4545029"/>
            <a:ext cx="1828800" cy="6086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7. ANALYST COCKPIT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30964-C3A6-CD7A-537D-DFADD56DC820}"/>
              </a:ext>
            </a:extLst>
          </p:cNvPr>
          <p:cNvSpPr txBox="1"/>
          <p:nvPr/>
        </p:nvSpPr>
        <p:spPr>
          <a:xfrm>
            <a:off x="2511542" y="5247861"/>
            <a:ext cx="2425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200" dirty="0"/>
              <a:t>│  📊 Dashboard                </a:t>
            </a:r>
          </a:p>
          <a:p>
            <a:pPr>
              <a:buNone/>
            </a:pPr>
            <a:r>
              <a:rPr lang="en-SG" sz="1200" dirty="0"/>
              <a:t>│  🚨 Prioritised Alerts                     </a:t>
            </a:r>
          </a:p>
          <a:p>
            <a:pPr>
              <a:buNone/>
            </a:pPr>
            <a:r>
              <a:rPr lang="en-SG" sz="1200" dirty="0"/>
              <a:t>│  🤖 AI Assessment    </a:t>
            </a:r>
          </a:p>
          <a:p>
            <a:pPr>
              <a:buNone/>
            </a:pPr>
            <a:r>
              <a:rPr lang="en-SG" sz="1200" dirty="0"/>
              <a:t>│  📝 Investigation Report                  </a:t>
            </a:r>
          </a:p>
          <a:p>
            <a:pPr>
              <a:buNone/>
            </a:pPr>
            <a:r>
              <a:rPr lang="en-SG" sz="1200" dirty="0"/>
              <a:t>│  ✔ Human Decision &amp; Audit Trail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5128504-3B46-1B32-1FFE-9F61A09A4413}"/>
              </a:ext>
            </a:extLst>
          </p:cNvPr>
          <p:cNvSpPr/>
          <p:nvPr/>
        </p:nvSpPr>
        <p:spPr>
          <a:xfrm>
            <a:off x="3035300" y="2663744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525EB77-BB8C-BCE1-0CA5-9ED8F0DAC93B}"/>
              </a:ext>
            </a:extLst>
          </p:cNvPr>
          <p:cNvSpPr/>
          <p:nvPr/>
        </p:nvSpPr>
        <p:spPr>
          <a:xfrm>
            <a:off x="5645534" y="2675873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D51E192-7A19-97CD-0EB9-8D1F0DEA6A8A}"/>
              </a:ext>
            </a:extLst>
          </p:cNvPr>
          <p:cNvSpPr/>
          <p:nvPr/>
        </p:nvSpPr>
        <p:spPr>
          <a:xfrm>
            <a:off x="8365169" y="2539505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ent Up Arrow 30">
            <a:extLst>
              <a:ext uri="{FF2B5EF4-FFF2-40B4-BE49-F238E27FC236}">
                <a16:creationId xmlns:a16="http://schemas.microsoft.com/office/drawing/2014/main" id="{CA5D9B5E-D3F6-7449-BCCE-F174998AF667}"/>
              </a:ext>
            </a:extLst>
          </p:cNvPr>
          <p:cNvSpPr/>
          <p:nvPr/>
        </p:nvSpPr>
        <p:spPr>
          <a:xfrm rot="5400000" flipV="1">
            <a:off x="9760864" y="4474174"/>
            <a:ext cx="685800" cy="58935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BCE40E8D-F78B-296D-C548-E674C0D95D08}"/>
              </a:ext>
            </a:extLst>
          </p:cNvPr>
          <p:cNvSpPr/>
          <p:nvPr/>
        </p:nvSpPr>
        <p:spPr>
          <a:xfrm flipH="1">
            <a:off x="7340702" y="4800934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AF3870D-AD4F-97F6-7FA8-8D2A9B8DC7A6}"/>
              </a:ext>
            </a:extLst>
          </p:cNvPr>
          <p:cNvSpPr/>
          <p:nvPr/>
        </p:nvSpPr>
        <p:spPr>
          <a:xfrm flipH="1">
            <a:off x="4877752" y="4854215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CB69B7-5197-C375-B2B6-C3D52A16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85" y="182123"/>
            <a:ext cx="9590662" cy="639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7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88F46B-DEE2-FAED-70F8-112F0989C407}"/>
              </a:ext>
            </a:extLst>
          </p:cNvPr>
          <p:cNvSpPr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0" kern="1200" cap="none" spc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YAML &amp; Manifest based run time controls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6DB7B-D7EE-844C-A5F8-CE6CD037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796" y="961812"/>
            <a:ext cx="390780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8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4CF98A-0148-E30D-DA4B-4320E243FDB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Today’s demonstration focuses on </a:t>
            </a:r>
            <a:r>
              <a:rPr lang="en-US" sz="1500" b="1" dirty="0"/>
              <a:t>FX market</a:t>
            </a:r>
            <a:r>
              <a:rPr lang="en-US" sz="1500" dirty="0"/>
              <a:t> data because it allowed us to validate the complete end-to-end workflow. However, the platform has been designed as a reusable control framework. By introducing asset-specific deterministic rules and connecting additional market data feeds, the same cockpit can monitor </a:t>
            </a:r>
            <a:r>
              <a:rPr lang="en-US" sz="1500" b="1" dirty="0"/>
              <a:t>fixed income, equities, commodities, derivatives, credit markets</a:t>
            </a:r>
            <a:r>
              <a:rPr lang="en-US" sz="1500" dirty="0"/>
              <a:t>, and even calculated risk metrics such as </a:t>
            </a:r>
            <a:r>
              <a:rPr lang="en-US" sz="1500" dirty="0" err="1"/>
              <a:t>VaR</a:t>
            </a:r>
            <a:r>
              <a:rPr lang="en-US" sz="1500" dirty="0"/>
              <a:t> or Expected Shortfall. This enables a single AI-powered control platform for enterprise-wide market data governance.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222FA-AF65-0048-E709-FFD29F01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45180"/>
            <a:ext cx="6903720" cy="53676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C13C75-38A9-D7BE-CD9C-FD6C2BA726FE}"/>
              </a:ext>
            </a:extLst>
          </p:cNvPr>
          <p:cNvSpPr/>
          <p:nvPr/>
        </p:nvSpPr>
        <p:spPr>
          <a:xfrm>
            <a:off x="3714129" y="80203"/>
            <a:ext cx="370050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Scalable </a:t>
            </a:r>
            <a:r>
              <a:rPr lang="en-GB" sz="32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Archietcture</a:t>
            </a:r>
            <a:endParaRPr lang="en-GB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29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8B140-6EE7-90DD-6E10-B25C6E32AC64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720010"/>
          <a:ext cx="10905067" cy="541798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43252">
                  <a:extLst>
                    <a:ext uri="{9D8B030D-6E8A-4147-A177-3AD203B41FA5}">
                      <a16:colId xmlns:a16="http://schemas.microsoft.com/office/drawing/2014/main" val="3475398518"/>
                    </a:ext>
                  </a:extLst>
                </a:gridCol>
                <a:gridCol w="3701667">
                  <a:extLst>
                    <a:ext uri="{9D8B030D-6E8A-4147-A177-3AD203B41FA5}">
                      <a16:colId xmlns:a16="http://schemas.microsoft.com/office/drawing/2014/main" val="2754645956"/>
                    </a:ext>
                  </a:extLst>
                </a:gridCol>
                <a:gridCol w="4960148">
                  <a:extLst>
                    <a:ext uri="{9D8B030D-6E8A-4147-A177-3AD203B41FA5}">
                      <a16:colId xmlns:a16="http://schemas.microsoft.com/office/drawing/2014/main" val="2053906769"/>
                    </a:ext>
                  </a:extLst>
                </a:gridCol>
              </a:tblGrid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Capability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Hackathon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Proposed Production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69219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Data Source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Synthetic FX market data (Reuters/Bloomberg simulation in CSV)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market data from Reuters, Bloomberg, ICE, exchanges, or internal market data platforms via streaming APIs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35794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(Pandas) 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Databricks, Apache Spark, or Kafka Streams for scalable real-time processing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8811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Rule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Python-based deterministic validation rules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Enterprise Business Rules Engine or centrally managed configurable rule service integrated with market data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7307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AI Anomaly Detection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Isolation Forest (Scikit-learn)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Databricks ML, or enterprise </a:t>
                      </a:r>
                      <a:r>
                        <a:rPr lang="en-SG" sz="1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MLOps</a:t>
                      </a: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 platform with continuous monitoring, retraining, and model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3424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Context Enrichment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Simulated scenarios and derived context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economic calendars, market news, volatility indices, reference data, peer asset movements, and macro event feeds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5665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Business Impact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calculations using synthetic exposures, P&amp;L, and VaR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Market Risk systems  using live positions and risk measures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186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Generative AI Investigation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OpenAI GPT API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OpenAI or approved enterprise LLM with Responsible AI controls, prompt governance, audit logging, and human approval workflow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68375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Dashboard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Stream lit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React/Angular web application with Power BI, Grafana, or internal enterprise dashboard framework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37262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Alert Storage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CSV files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Enterprise database (Azure SQL, PostgreSQL) with full audit trail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266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Workflow &amp; Case Management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review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ServiceNow, or enterprise incident management platforms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80508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Authentication &amp; Security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None (prototype)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IAM (Azure AD/Entra ID), RBAC, MFA, encryption, and full audit logging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13818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Local Terminal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Azure Kubernetes Service (AKS), or bank-approved cloud platform with CI/CD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071861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Monitoring &amp; Observability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Manual execution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COP (Central Observability Platform)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5177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65252A-7F24-68D4-7EED-FA4E7C2321E4}"/>
              </a:ext>
            </a:extLst>
          </p:cNvPr>
          <p:cNvSpPr/>
          <p:nvPr/>
        </p:nvSpPr>
        <p:spPr>
          <a:xfrm>
            <a:off x="3837111" y="80203"/>
            <a:ext cx="345453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Path to Production</a:t>
            </a:r>
          </a:p>
        </p:txBody>
      </p:sp>
    </p:spTree>
    <p:extLst>
      <p:ext uri="{BB962C8B-B14F-4D97-AF65-F5344CB8AC3E}">
        <p14:creationId xmlns:p14="http://schemas.microsoft.com/office/powerpoint/2010/main" val="1169174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0863C8-0B0E-A581-225F-A8F2E94D9B37}"/>
              </a:ext>
            </a:extLst>
          </p:cNvPr>
          <p:cNvSpPr txBox="1"/>
          <p:nvPr/>
        </p:nvSpPr>
        <p:spPr>
          <a:xfrm>
            <a:off x="1164564" y="1242460"/>
            <a:ext cx="95183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100"/>
            </a:lvl1pPr>
          </a:lstStyle>
          <a:p>
            <a:r>
              <a:rPr lang="en-SG" dirty="0"/>
              <a:t>Built in Python and </a:t>
            </a:r>
            <a:r>
              <a:rPr lang="en-SG" dirty="0" err="1"/>
              <a:t>Streamlit</a:t>
            </a:r>
            <a:r>
              <a:rPr lang="en-SG" dirty="0"/>
              <a:t>, combining deterministic market-risk controls, Isolation Forest ML for anomaly detection, contextual evidence and business-impact prioritization. OpenAI LLMs provide governed investigation narratives and natural-language Risk Copilot capabilities. Configuration is YAML-driven, with pandas-based analytics, explainable scoring, read-only query execution and human-in-the-loop decision making.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5643A-A7FB-2324-F136-A3E5F57604BD}"/>
              </a:ext>
            </a:extLst>
          </p:cNvPr>
          <p:cNvSpPr txBox="1"/>
          <p:nvPr/>
        </p:nvSpPr>
        <p:spPr>
          <a:xfrm>
            <a:off x="1157869" y="2047853"/>
            <a:ext cx="904921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100" dirty="0"/>
              <a:t>The key challenge was moving beyond simply detecting anomalies to determining </a:t>
            </a:r>
            <a:r>
              <a:rPr lang="en-SG" sz="1100" b="1" dirty="0"/>
              <a:t>which alerts genuinely matter to the business</a:t>
            </a:r>
            <a:r>
              <a:rPr lang="en-SG" sz="1100" dirty="0"/>
              <a:t>. Rule-based controls can generate significant alert volumes, while ML can identify additional unusual patterns; however, technical severity alone does not indicate business priority.</a:t>
            </a:r>
          </a:p>
          <a:p>
            <a:pPr>
              <a:buNone/>
            </a:pPr>
            <a:r>
              <a:rPr lang="en-SG" sz="1100" dirty="0"/>
              <a:t>We therefore had to design an explainable framework that combines </a:t>
            </a:r>
            <a:r>
              <a:rPr lang="en-SG" sz="1100" b="1" dirty="0"/>
              <a:t>rule severity, ML anomaly severity, contextual evidence, exposure and portfolio-risk contribution</a:t>
            </a:r>
            <a:r>
              <a:rPr lang="en-SG" sz="1100" dirty="0"/>
              <a:t> into a business-impact score and actionable priority, while avoiding double counting between these signals.</a:t>
            </a:r>
          </a:p>
          <a:p>
            <a:pPr>
              <a:buNone/>
            </a:pPr>
            <a:r>
              <a:rPr lang="en-SG" sz="1100" dirty="0"/>
              <a:t>A second challenge was maintaining </a:t>
            </a:r>
            <a:r>
              <a:rPr lang="en-SG" sz="1100" b="1" dirty="0"/>
              <a:t>trust and governance when using GenAI</a:t>
            </a:r>
            <a:r>
              <a:rPr lang="en-SG" sz="1100" dirty="0"/>
              <a:t>. We deliberately separated deterministic analytics from LLM capabilities: Python and ML perform calculations and detection, while the LLM is restricted to explaining saved results and supporting natural-language interaction. The Risk Copilot also required safeguards so natural-language questions are converted into validated, read-only queries executed deterministically rather than allowing the LLM direct control over data.</a:t>
            </a:r>
          </a:p>
          <a:p>
            <a:pPr>
              <a:buNone/>
            </a:pPr>
            <a:r>
              <a:rPr lang="en-SG" sz="1100" dirty="0"/>
              <a:t>Other challenges included creating meaningful synthetic market and portfolio data, making ML results explainable to non-technical users, ensuring configuration and thresholds were auditable, and designing a UI that provides management-level simplicity while retaining detailed evidence for analysts.</a:t>
            </a:r>
          </a:p>
          <a:p>
            <a:pPr>
              <a:buNone/>
            </a:pPr>
            <a:r>
              <a:rPr lang="en-SG" sz="1100" dirty="0"/>
              <a:t>The resulting design follows a core principle: </a:t>
            </a:r>
            <a:r>
              <a:rPr lang="en-SG" sz="1100" b="1" dirty="0"/>
              <a:t>Python calculates, ML detects, LLM explains, and humans decide.</a:t>
            </a:r>
            <a:endParaRPr lang="en-SG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AC1B9-1B4A-04E7-C6F4-6E6B73D60651}"/>
              </a:ext>
            </a:extLst>
          </p:cNvPr>
          <p:cNvSpPr txBox="1"/>
          <p:nvPr/>
        </p:nvSpPr>
        <p:spPr>
          <a:xfrm>
            <a:off x="1157869" y="4207463"/>
            <a:ext cx="986956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100"/>
            </a:lvl1pPr>
          </a:lstStyle>
          <a:p>
            <a:r>
              <a:rPr lang="en-SG" dirty="0"/>
              <a:t>The next step is to evolve the prototype into a controlled enterprise pilot using historical and representative market-risk control data.</a:t>
            </a:r>
          </a:p>
          <a:p>
            <a:r>
              <a:rPr lang="en-SG" dirty="0"/>
              <a:t>Key priorities include validating detection and prioritization with Market Risk and Market Data Operations teams, back-testing against historical investigations, calibrating thresholds and scoring, and measuring improvements in alert prioritization, investigation time, detection quality and analyst acceptance.</a:t>
            </a:r>
          </a:p>
          <a:p>
            <a:r>
              <a:rPr lang="en-SG" dirty="0"/>
              <a:t>The solution can then progressively integrate additional enterprise data sources such as positions and exposures, trades, risk limits and historical control cases, giving Risk Copilot a broader governed view of risk.</a:t>
            </a:r>
          </a:p>
          <a:p>
            <a:r>
              <a:rPr lang="en-SG" dirty="0"/>
              <a:t>Further development will focus on production-grade security, access controls, monitoring, auditability, model governance and integration with existing risk workflows and enterprise AI platforms.</a:t>
            </a:r>
          </a:p>
          <a:p>
            <a:r>
              <a:rPr lang="en-SG" dirty="0"/>
              <a:t>The longer-term vision is a unified AI-powered Risk Control Cockpit that helps analysts move from thousands of technical signals to a small, explainable and business-prioritized investigation queue—while keeping critical calculations and control decisions deterministic and humans accountable for final decisions.</a:t>
            </a:r>
          </a:p>
        </p:txBody>
      </p:sp>
    </p:spTree>
    <p:extLst>
      <p:ext uri="{BB962C8B-B14F-4D97-AF65-F5344CB8AC3E}">
        <p14:creationId xmlns:p14="http://schemas.microsoft.com/office/powerpoint/2010/main" val="308768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1750</Words>
  <Application>Microsoft Macintosh PowerPoint</Application>
  <PresentationFormat>Widescreen</PresentationFormat>
  <Paragraphs>271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Debabrata Pruseth</cp:lastModifiedBy>
  <cp:revision>3</cp:revision>
  <dcterms:created xsi:type="dcterms:W3CDTF">2013-01-27T09:14:16Z</dcterms:created>
  <dcterms:modified xsi:type="dcterms:W3CDTF">2026-09-13T01:47:35Z</dcterms:modified>
  <cp:category/>
</cp:coreProperties>
</file>